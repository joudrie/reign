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the sections. Don't read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leadership structure. Squads and shops.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previous drill. Sustains and improves.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 breakdown. Personnel status. Training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actions closed. Strength changes. Future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threats. Weather. Installation activity.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drill status. 30/60/90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Shortages, get-well dates. Billeting. Training at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PACE during and outside drill. Radio, access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 balance. Recent spending. Upcoming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items. Suspenses. Decisions waiting.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720840"/>
            <a:ext cx="9144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CUI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latin typeface="Arial"/>
              </a:defRPr>
            </a:pPr>
            <a:r>
              <a:t>Class 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COMMAND &amp; STAFF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114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>
                <a:solidFill>
                  <a:srgbClr val="FF0000"/>
                </a:solidFill>
                <a:latin typeface="Arial"/>
              </a:defRPr>
            </a:pPr>
            <a:r>
              <a:rPr b="1">
                <a:solidFill>
                  <a:srgbClr val="FF0000"/>
                </a:solidFill>
              </a:rPr>
              <a:t>[Drill month and dates]</a:t>
            </a:r>
          </a:p>
          <a:p>
            <a:pPr algn="ctr">
              <a:defRPr sz="1800" b="1">
                <a:solidFill>
                  <a:srgbClr val="FF0000"/>
                </a:solidFill>
                <a:latin typeface="Arial"/>
              </a:defRPr>
            </a:pPr>
            <a:r>
              <a:t>[PL]</a:t>
            </a:r>
          </a:p>
          <a:p>
            <a:pPr algn="ctr">
              <a:defRPr sz="1800" b="1">
                <a:solidFill>
                  <a:srgbClr val="FF0000"/>
                </a:solidFill>
                <a:latin typeface="Arial"/>
              </a:defRPr>
            </a:pPr>
            <a:r>
              <a:t>[PSG]</a:t>
            </a:r>
          </a:p>
          <a:p>
            <a:pPr algn="ctr">
              <a:defRPr sz="1800" b="1">
                <a:solidFill>
                  <a:srgbClr val="FF0000"/>
                </a:solidFill>
                <a:latin typeface="Arial"/>
              </a:defRPr>
            </a:pPr>
            <a:r>
              <a:t>[Presented to]</a:t>
            </a:r>
          </a:p>
          <a:p>
            <a:pPr algn="ctr">
              <a:defRPr sz="1800" b="1">
                <a:solidFill>
                  <a:srgbClr val="FF0000"/>
                </a:solidFill>
                <a:latin typeface="Arial"/>
              </a:defRPr>
            </a:pPr>
            <a:r>
              <a:t>[DTG]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720840"/>
            <a:ext cx="9144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CUI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Arial"/>
              </a:defRPr>
            </a:pPr>
            <a: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➤ Task Organization</a:t>
            </a:r>
          </a:p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➤ Previous Drill AAR</a:t>
            </a:r>
          </a:p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➤ Class Snapshot</a:t>
            </a:r>
          </a:p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➤ S-1 Personnel</a:t>
            </a:r>
          </a:p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➤ S-2 Intelligence &amp; Security</a:t>
            </a:r>
          </a:p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➤ S-3 Operations</a:t>
            </a:r>
          </a:p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➤ S-4 Logistics</a:t>
            </a:r>
          </a:p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➤ S-6 Signal</a:t>
            </a:r>
          </a:p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➤ S-8 Treasurer</a:t>
            </a:r>
          </a:p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➤ Status Tracker &amp; Decisions</a:t>
            </a:r>
          </a:p>
          <a:p>
            <a:pPr>
              <a:defRPr sz="1800">
                <a:solidFill>
                  <a:srgbClr val="000000"/>
                </a:solidFill>
                <a:latin typeface="Arial"/>
              </a:defRPr>
            </a:pPr>
            <a:r>
              <a:t>➤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720840"/>
            <a:ext cx="9144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CUI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Arial"/>
              </a:defRPr>
            </a:pPr>
            <a:r>
              <a:t>Task Organization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Squads / Shops</a:t>
            </a:r>
          </a:p>
          <a:p>
            <a:pPr lvl="1">
              <a:defRPr sz="1400" b="1">
                <a:solidFill>
                  <a:srgbClr val="FF0000"/>
                </a:solidFill>
                <a:latin typeface="Arial"/>
              </a:defRPr>
            </a:pPr>
            <a:r>
              <a:t>[Squad leader]</a:t>
            </a:r>
          </a:p>
          <a:p>
            <a:pPr lvl="1">
              <a:defRPr sz="1400" b="1">
                <a:solidFill>
                  <a:srgbClr val="FF0000"/>
                </a:solidFill>
                <a:latin typeface="Arial"/>
              </a:defRPr>
            </a:pPr>
            <a:r>
              <a:t>[Members]</a:t>
            </a:r>
          </a:p>
          <a:p>
            <a:pPr lvl="1">
              <a:defRPr sz="1400" b="1">
                <a:solidFill>
                  <a:srgbClr val="FF0000"/>
                </a:solidFill>
                <a:latin typeface="Arial"/>
              </a:defRPr>
            </a:pPr>
            <a:r>
              <a:t>[Members]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371600"/>
            <a:ext cx="393192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Shop Owner per Shop</a:t>
            </a:r>
          </a:p>
          <a:p>
            <a:pPr>
              <a:defRPr sz="1400" b="1">
                <a:solidFill>
                  <a:srgbClr val="FF0000"/>
                </a:solidFill>
                <a:latin typeface="Arial"/>
              </a:defRPr>
            </a:pPr>
            <a:r>
              <a:t>[Shop owner]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720840"/>
            <a:ext cx="9144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CUI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Arial"/>
              </a:defRPr>
            </a:pPr>
            <a:r>
              <a:t>Previous Drill AAR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1371600"/>
          <a:ext cx="7772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Standard Met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Sustain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Improve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[Task]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[Task]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[Task]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[Task]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[Task]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720840"/>
            <a:ext cx="9144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CUI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Arial"/>
              </a:defRPr>
            </a:pPr>
            <a:r>
              <a:t>Class Snapshot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Personnel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[Assigned strength]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[Profiles]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[Open shortages]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37160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Logistics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[Assigned strength]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[Profiles]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[Open shortages]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Training Readiness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[Upcoming events]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[Concerns]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370332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PL &amp; PSG Concerns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[Upcoming events]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[Concerns]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720840"/>
            <a:ext cx="9144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CUI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Arial"/>
              </a:defRPr>
            </a:pPr>
            <a:r>
              <a:t>S-1 Personnel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Past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[Admin actions closed]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37160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Present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[Strength and profiles]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Future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[Suspenses with NLT]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370332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Ask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[S-1 ask, or 'No ask']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720840"/>
            <a:ext cx="9144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CUI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Arial"/>
              </a:defRPr>
            </a:pPr>
            <a:r>
              <a:t>S-2 Intelligence &amp; Security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Global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[One line per region]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37160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Installation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[Installation activity]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Weather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[Weather impact]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370332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Force Protection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[Force protection]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720840"/>
            <a:ext cx="9144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CUI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Arial"/>
              </a:defRPr>
            </a:pPr>
            <a:r>
              <a:t>S-3 Operations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371600"/>
            <a:ext cx="7772400" cy="54864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FF0000"/>
                </a:solidFill>
                <a:latin typeface="Arial"/>
              </a:defRPr>
            </a:pPr>
            <a:r>
              <a:t>[Last drill executed]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103120"/>
          <a:ext cx="7772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11582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30 Days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60 Days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90+ Days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[30 days]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[60 days]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[90+ days]</a:t>
                      </a:r>
                    </a:p>
                  </a:txBody>
                  <a:tcPr/>
                </a:tc>
              </a:tr>
              <a:tr h="11582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[30 days]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[60 days]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[90+ days]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720840"/>
            <a:ext cx="9144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CUI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Arial"/>
              </a:defRPr>
            </a:pPr>
            <a:r>
              <a:t>S-4 Logistics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Resolved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[Item, OC, status, date]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37160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Open Shortages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[Item, OC, status, date]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Billeting &amp; Chow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[Billeting, chow]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370332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Risk to Training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[Training at risk]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720840"/>
            <a:ext cx="9144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CUI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Arial"/>
              </a:defRPr>
            </a:pPr>
            <a:r>
              <a:t>S-6 Signal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1371600"/>
          <a:ext cx="4114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6705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During Drill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Outside Drill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[P]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[P]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[A]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85800" y="3566160"/>
            <a:ext cx="41148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Radio Accountability</a:t>
            </a:r>
          </a:p>
          <a:p>
            <a:pPr>
              <a:defRPr sz="1100" b="1">
                <a:solidFill>
                  <a:srgbClr val="FF0000"/>
                </a:solidFill>
                <a:latin typeface="Arial"/>
              </a:defRPr>
            </a:pPr>
            <a:r>
              <a:t>[Radio accountability]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3566160"/>
            <a:ext cx="34290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Access Issues</a:t>
            </a:r>
          </a:p>
          <a:p>
            <a:pPr>
              <a:defRPr sz="1100" b="1">
                <a:solidFill>
                  <a:srgbClr val="FF0000"/>
                </a:solidFill>
                <a:latin typeface="Arial"/>
              </a:defRPr>
            </a:pPr>
            <a:r>
              <a:t>[Access issues]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720840"/>
            <a:ext cx="9144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CUI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Arial"/>
              </a:defRPr>
            </a:pPr>
            <a:r>
              <a:t>S-8 Treasurer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Balance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[Balance]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37160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Activity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[Activity since drill]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Next Steps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[Next steps]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370332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Needs from Higher</a:t>
            </a:r>
          </a:p>
          <a:p>
            <a:pPr>
              <a:defRPr sz="1200" b="1">
                <a:solidFill>
                  <a:srgbClr val="FF0000"/>
                </a:solidFill>
                <a:latin typeface="Arial"/>
              </a:defRPr>
            </a:pPr>
            <a:r>
              <a:t>[Needs from higher]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720840"/>
            <a:ext cx="9144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CUI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Arial"/>
              </a:defRPr>
            </a:pPr>
            <a:r>
              <a:t>Status Tracker &amp; Decisions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71600"/>
          <a:ext cx="4572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Suspense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  <a:latin typeface="Arial"/>
                        </a:defRPr>
                      </a:pPr>
                      <a:r>
                        <a:t>[Data]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257800" y="1371600"/>
            <a:ext cx="342900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t>Decisions Required</a:t>
            </a:r>
          </a:p>
          <a:p>
            <a:pPr>
              <a:defRPr sz="1100" b="1">
                <a:solidFill>
                  <a:srgbClr val="FF0000"/>
                </a:solidFill>
                <a:latin typeface="Arial"/>
              </a:defRPr>
            </a:pPr>
            <a:r>
              <a:t>[Decision required]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9144000" cy="1371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720840"/>
            <a:ext cx="9144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CUI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Arial"/>
              </a:defRPr>
            </a:pPr>
            <a:r>
              <a:t>Closing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TAC Cadre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37160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Alibis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Company Commander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3703320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